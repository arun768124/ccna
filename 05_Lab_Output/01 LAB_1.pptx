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D17C-4FF0-28F5-B78A-72D2742E3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1F956-9041-E680-D495-8D92E3066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0F25-85B0-7E77-4966-834363D47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37C1-61CD-C947-44A5-31980F8D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9DEF7-918F-6393-1152-86F95EFF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18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6654-E1A7-1771-E57C-87711C5D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E0E32-59C2-CBA3-000E-A127A04DB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54CA1-FE04-AC88-C583-B67D6B10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A494D-72E9-E4FF-5278-BFD1BE2A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20EF0-A4A4-B645-4D84-0DCEB0D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42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2862-60E0-4D0D-B18D-70DAF4E0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53954-E422-5E61-30A1-43C56C76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61CAB-AFE1-9631-5099-48F51BC7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6956-2862-B713-6A1F-B0F62A50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FA9-736B-467D-EA52-9E5131F4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61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025D-463E-5A28-511E-D1C53223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5DA21-DDA1-5D18-F566-CA512ABA4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97A3C-E852-DAB5-A126-00FED0939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DD4A0-6ADC-4334-313F-2146E64E4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02501-CE8B-13E4-D24E-726BC63A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72ED7-DD76-BF1C-4E8B-EC4CC9E0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48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B2D5-11B6-ACE3-6E2C-2127D52C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410A4-B4E2-AEFB-4EA3-73252DEE2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20B7D-D1FA-2278-B45F-07E220E65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C71C2-857D-77C1-9A33-63CF72EE6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BAE72-BB21-8066-2945-F8379CCC4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66EAF-B081-3D9B-CF5A-BC8DAD00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F922B8-3EAF-ECA0-69AC-67FC187C5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3448F-740B-DC11-9011-D2658ECA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0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C971-42F4-569F-4E84-D50DF788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067C2-1F5C-11F1-D991-C826C3A0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6BB24-D788-C253-9A2A-F0D01BA3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30E47-CD31-82DB-5DAA-F04B7B15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93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3C6E9-2A20-77A2-5116-2D4C0A3D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A9984-F498-FA6E-96FE-DCAEC74A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8210-232E-F8D6-F6EF-6A6BDC73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8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6D0C-83E6-4D39-3713-D481B7C0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12B9-25DB-639D-038D-B608138DA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3C44D-C68C-D40D-5F0E-B9C3836B2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BA7A8-2663-912E-1675-A3F907A0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D2687-1D06-8673-8D1F-20B75560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71483-82DF-4374-127E-163D27C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56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AE3C8-139E-D41F-A309-60262470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64399-3739-2FB3-1C50-9FF4FA73F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B0421-A56A-1398-CDB5-3BBACE57C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D6E38-72B6-EF8C-57E7-785680E3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C247D-19D9-D304-4A6E-1CF12190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58924-9000-E2A2-2F37-745CB07F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30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24EA-984F-0A54-83AC-68A9162B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F532C-69DD-9521-12AB-91BAA8B2C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491D-C8F3-DD86-8C86-C4214BD4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72CD9-BC80-87F9-E341-692C27BD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A236B-7FD7-5645-85D3-5144D8B8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38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10F9D-958B-66F6-3B5E-3E8F26673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45FD9-5D15-7D92-B44F-1ADB30EC0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C2BF-1454-1644-6BFF-7E2133A45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DAEB-4ACE-616D-FE19-9AD2F056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35A8-9C29-CFF3-8081-04BD717E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05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FC155-3D31-8D9E-CCA5-B33AD692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179F0-3514-9B11-1176-23D1D2C03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70B95-F9F0-5EA1-6B8B-CE6E87A21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EA6FE-AC46-42A6-A4C4-B20E676B353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C4DEE-4398-9214-9016-B3A169C33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A8485-4D0D-D765-95C5-5AF01DA0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CEC74-E621-45AC-B5C2-45ABCC962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50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7AEEF2-8562-6624-BE1B-D46840D06AD3}"/>
              </a:ext>
            </a:extLst>
          </p:cNvPr>
          <p:cNvSpPr txBox="1"/>
          <p:nvPr/>
        </p:nvSpPr>
        <p:spPr>
          <a:xfrm>
            <a:off x="109728" y="155449"/>
            <a:ext cx="5907024" cy="224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/>
              <a:t>Step 1: Open </a:t>
            </a:r>
            <a:r>
              <a:rPr lang="en-IN" sz="2000" b="1" dirty="0" err="1"/>
              <a:t>ncpa.cpl</a:t>
            </a:r>
            <a:r>
              <a:rPr lang="en-IN" sz="2000" b="1" dirty="0"/>
              <a:t> using CMD</a:t>
            </a:r>
          </a:p>
          <a:p>
            <a:pPr lvl="0"/>
            <a:r>
              <a:rPr lang="en-IN" sz="2000" dirty="0"/>
              <a:t>Step 2: Select Ethernet → Properties </a:t>
            </a:r>
          </a:p>
          <a:p>
            <a:pPr lvl="0"/>
            <a:r>
              <a:rPr lang="en-IN" sz="2000" dirty="0"/>
              <a:t>Step 3: Select IPv4 → Properties </a:t>
            </a:r>
          </a:p>
          <a:p>
            <a:pPr lvl="0"/>
            <a:r>
              <a:rPr lang="en-IN" sz="2000" dirty="0"/>
              <a:t>Step 4: Enter IP address and subnet mask </a:t>
            </a:r>
          </a:p>
          <a:p>
            <a:pPr lvl="0"/>
            <a:r>
              <a:rPr lang="en-IN" sz="2000" dirty="0"/>
              <a:t>Step 5: Click OK and Close </a:t>
            </a:r>
          </a:p>
          <a:p>
            <a:pPr lvl="0"/>
            <a:r>
              <a:rPr lang="en-IN" sz="2000" dirty="0"/>
              <a:t>Step 6: Verify using ipconfig</a:t>
            </a:r>
          </a:p>
          <a:p>
            <a:endParaRPr lang="en-IN" sz="2000" dirty="0"/>
          </a:p>
        </p:txBody>
      </p:sp>
      <p:pic>
        <p:nvPicPr>
          <p:cNvPr id="7" name="Picture 6" descr="The image shows a command prompt in Windows, displaying IP configuration information for a local area connection and a tunnel adapter.&#10;&#10;AI-generated content may be incorrect.">
            <a:extLst>
              <a:ext uri="{FF2B5EF4-FFF2-40B4-BE49-F238E27FC236}">
                <a16:creationId xmlns:a16="http://schemas.microsoft.com/office/drawing/2014/main" id="{9987A3A9-CF0B-1147-BB12-1AB3C308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3573752"/>
            <a:ext cx="5472743" cy="2571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8D98D-774D-9EA5-17FD-71F6F466DE08}"/>
              </a:ext>
            </a:extLst>
          </p:cNvPr>
          <p:cNvSpPr txBox="1"/>
          <p:nvPr/>
        </p:nvSpPr>
        <p:spPr>
          <a:xfrm>
            <a:off x="7790688" y="326996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Building 2</a:t>
            </a:r>
          </a:p>
        </p:txBody>
      </p:sp>
      <p:pic>
        <p:nvPicPr>
          <p:cNvPr id="10" name="Picture 9" descr="The image shows a command prompt window in Windows, displaying network configuration details such as IP addresses, subnet mask, and default gateway for various network interfaces.&#10;&#10;AI-generated content may be incorrect.">
            <a:extLst>
              <a:ext uri="{FF2B5EF4-FFF2-40B4-BE49-F238E27FC236}">
                <a16:creationId xmlns:a16="http://schemas.microsoft.com/office/drawing/2014/main" id="{A0296E5D-231E-339A-773C-852483F4B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3895343"/>
            <a:ext cx="5193183" cy="25811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C04C83-6F78-1946-DA3E-487C3FC03DC4}"/>
              </a:ext>
            </a:extLst>
          </p:cNvPr>
          <p:cNvSpPr txBox="1"/>
          <p:nvPr/>
        </p:nvSpPr>
        <p:spPr>
          <a:xfrm>
            <a:off x="1611035" y="3316130"/>
            <a:ext cx="1159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Building 2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80856-C156-BBC5-2705-4393F13242CD}"/>
              </a:ext>
            </a:extLst>
          </p:cNvPr>
          <p:cNvSpPr txBox="1"/>
          <p:nvPr/>
        </p:nvSpPr>
        <p:spPr>
          <a:xfrm>
            <a:off x="914400" y="2683263"/>
            <a:ext cx="1988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Ip – 50.0.0.10</a:t>
            </a:r>
            <a:br>
              <a:rPr lang="en-IN" dirty="0"/>
            </a:br>
            <a:r>
              <a:rPr lang="en-IN" dirty="0"/>
              <a:t>subnet - 255.0.0.0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34F79-AC8C-C49D-CAB2-5A87E1B9C892}"/>
              </a:ext>
            </a:extLst>
          </p:cNvPr>
          <p:cNvSpPr txBox="1"/>
          <p:nvPr/>
        </p:nvSpPr>
        <p:spPr>
          <a:xfrm>
            <a:off x="7655897" y="6193075"/>
            <a:ext cx="19880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Ip – 50.0.0.20</a:t>
            </a:r>
            <a:br>
              <a:rPr lang="en-IN" dirty="0"/>
            </a:br>
            <a:r>
              <a:rPr lang="en-IN" dirty="0"/>
              <a:t>subnet - 255.0.0.0</a:t>
            </a:r>
          </a:p>
          <a:p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97E4976-4436-0632-C1F0-DC5C1E191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152531"/>
              </p:ext>
            </p:extLst>
          </p:nvPr>
        </p:nvGraphicFramePr>
        <p:xfrm>
          <a:off x="7930896" y="64756"/>
          <a:ext cx="4029456" cy="3048000"/>
        </p:xfrm>
        <a:graphic>
          <a:graphicData uri="http://schemas.openxmlformats.org/drawingml/2006/table">
            <a:tbl>
              <a:tblPr/>
              <a:tblGrid>
                <a:gridCol w="2014728">
                  <a:extLst>
                    <a:ext uri="{9D8B030D-6E8A-4147-A177-3AD203B41FA5}">
                      <a16:colId xmlns:a16="http://schemas.microsoft.com/office/drawing/2014/main" val="3710718757"/>
                    </a:ext>
                  </a:extLst>
                </a:gridCol>
                <a:gridCol w="2014728">
                  <a:extLst>
                    <a:ext uri="{9D8B030D-6E8A-4147-A177-3AD203B41FA5}">
                      <a16:colId xmlns:a16="http://schemas.microsoft.com/office/drawing/2014/main" val="1041977259"/>
                    </a:ext>
                  </a:extLst>
                </a:gridCol>
              </a:tblGrid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258605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50.0.0.10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533449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Subnet Mask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FF0000"/>
                          </a:solidFill>
                        </a:rPr>
                        <a:t>255.0.0.0</a:t>
                      </a:r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051067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Prefix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/8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84340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Network / First 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50.0.0.0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19079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Usable First 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50.0.0.1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597814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Usable Last 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FF0000"/>
                          </a:solidFill>
                        </a:rPr>
                        <a:t>50.255.255.254</a:t>
                      </a:r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943511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Broadcast / Last 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FF0000"/>
                          </a:solidFill>
                        </a:rPr>
                        <a:t>50.255.255.255</a:t>
                      </a:r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130768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Total 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FF0000"/>
                          </a:solidFill>
                        </a:rPr>
                        <a:t>16,777,216</a:t>
                      </a:r>
                      <a:endParaRPr lang="en-IN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25136"/>
                  </a:ext>
                </a:extLst>
              </a:tr>
              <a:tr h="25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00"/>
                          </a:solidFill>
                        </a:rPr>
                        <a:t>Usable 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16,777,214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182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031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4D1D73-AB71-DF98-7277-711AEBCFCA43}"/>
              </a:ext>
            </a:extLst>
          </p:cNvPr>
          <p:cNvSpPr txBox="1"/>
          <p:nvPr/>
        </p:nvSpPr>
        <p:spPr>
          <a:xfrm>
            <a:off x="502920" y="347472"/>
            <a:ext cx="2009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 (Ping Test):</a:t>
            </a:r>
          </a:p>
        </p:txBody>
      </p:sp>
      <p:pic>
        <p:nvPicPr>
          <p:cNvPr id="6" name="Picture 5" descr="The image shows a command prompt in Windows 10, where the user is executing a ping command to test the network connectivity to the IP address 50.0.0.10, and the response shows successful connectivity with an average round trip time of 1 millisecond.&#10;&#10;AI-generated content may be incorrect.">
            <a:extLst>
              <a:ext uri="{FF2B5EF4-FFF2-40B4-BE49-F238E27FC236}">
                <a16:creationId xmlns:a16="http://schemas.microsoft.com/office/drawing/2014/main" id="{BE4EA326-8BEE-1889-8C0E-7121F17D7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30" y="972836"/>
            <a:ext cx="5896070" cy="2895076"/>
          </a:xfrm>
          <a:prstGeom prst="rect">
            <a:avLst/>
          </a:prstGeom>
        </p:spPr>
      </p:pic>
      <p:pic>
        <p:nvPicPr>
          <p:cNvPr id="11" name="Picture 10" descr="The image shows a Command Prompt window in Windows, executing a ping command to a specific IP address and displaying the results.&#10;&#10;AI-generated content may be incorrect.">
            <a:extLst>
              <a:ext uri="{FF2B5EF4-FFF2-40B4-BE49-F238E27FC236}">
                <a16:creationId xmlns:a16="http://schemas.microsoft.com/office/drawing/2014/main" id="{12EAF2DA-C3B7-EC8A-C44E-ED15C3B53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828" y="974681"/>
            <a:ext cx="5595242" cy="28932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5495F6-CE82-BB8C-A5F0-23575785CEFA}"/>
              </a:ext>
            </a:extLst>
          </p:cNvPr>
          <p:cNvSpPr txBox="1"/>
          <p:nvPr/>
        </p:nvSpPr>
        <p:spPr>
          <a:xfrm>
            <a:off x="199930" y="4123944"/>
            <a:ext cx="191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How it is works 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3FF72-9A0B-2C42-2327-0A536D14C00B}"/>
              </a:ext>
            </a:extLst>
          </p:cNvPr>
          <p:cNvSpPr txBox="1"/>
          <p:nvPr/>
        </p:nvSpPr>
        <p:spPr>
          <a:xfrm>
            <a:off x="199930" y="4626864"/>
            <a:ext cx="113580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Ping Command: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ping 50.0.0.20</a:t>
            </a:r>
            <a:r>
              <a:rPr lang="en-IN" dirty="0"/>
              <a:t> from my PC.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ICMP Request:</a:t>
            </a:r>
            <a:r>
              <a:rPr lang="en-IN" dirty="0"/>
              <a:t> My PC sends an </a:t>
            </a:r>
            <a:r>
              <a:rPr lang="en-IN" b="1" dirty="0"/>
              <a:t>ICMP Echo Request</a:t>
            </a:r>
            <a:r>
              <a:rPr lang="en-IN" dirty="0"/>
              <a:t> to the destination.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Network Check:</a:t>
            </a:r>
            <a:r>
              <a:rPr lang="en-IN" dirty="0"/>
              <a:t> The PC checks the destination network and uses </a:t>
            </a:r>
            <a:r>
              <a:rPr lang="en-IN" b="1" dirty="0"/>
              <a:t>ARP to find the MAC address</a:t>
            </a:r>
            <a:r>
              <a:rPr lang="en-IN" dirty="0"/>
              <a:t> if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Transmission:</a:t>
            </a:r>
            <a:r>
              <a:rPr lang="en-IN" dirty="0"/>
              <a:t> The packet travels through </a:t>
            </a:r>
            <a:r>
              <a:rPr lang="en-IN" b="1" dirty="0"/>
              <a:t>Layer 2 (Data Link)</a:t>
            </a:r>
            <a:r>
              <a:rPr lang="en-IN" dirty="0"/>
              <a:t> and </a:t>
            </a:r>
            <a:r>
              <a:rPr lang="en-IN" b="1" dirty="0"/>
              <a:t>Layer 1 (Physical)</a:t>
            </a:r>
            <a:r>
              <a:rPr lang="en-IN" dirty="0"/>
              <a:t> to the destination.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ICMP Reply:</a:t>
            </a:r>
            <a:r>
              <a:rPr lang="en-IN" dirty="0"/>
              <a:t> The destination sends an </a:t>
            </a:r>
            <a:r>
              <a:rPr lang="en-IN" b="1" dirty="0"/>
              <a:t>ICMP Echo Reply</a:t>
            </a:r>
            <a:r>
              <a:rPr lang="en-IN" dirty="0"/>
              <a:t> back. If I receive the reply, </a:t>
            </a:r>
            <a:r>
              <a:rPr lang="en-IN" b="1" dirty="0"/>
              <a:t>basic network connectivity is working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25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8459-AE74-9251-1D6F-59117DE9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displays a computer screen with a File Explorer window showing various folders and a network connection status, including a network IP address and a list of recent activities.&#10;&#10;AI-generated content may be incorrect.">
            <a:extLst>
              <a:ext uri="{FF2B5EF4-FFF2-40B4-BE49-F238E27FC236}">
                <a16:creationId xmlns:a16="http://schemas.microsoft.com/office/drawing/2014/main" id="{EDD8F1C5-0853-FCA4-989B-4784D5D3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59" y="812718"/>
            <a:ext cx="4859420" cy="3665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49B7F1-0C32-1258-6ED0-EF076DF2515C}"/>
              </a:ext>
            </a:extLst>
          </p:cNvPr>
          <p:cNvSpPr txBox="1"/>
          <p:nvPr/>
        </p:nvSpPr>
        <p:spPr>
          <a:xfrm>
            <a:off x="100584" y="100584"/>
            <a:ext cx="225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Share folder Output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9D158-8C7B-3110-FF97-12355615819B}"/>
              </a:ext>
            </a:extLst>
          </p:cNvPr>
          <p:cNvSpPr txBox="1"/>
          <p:nvPr/>
        </p:nvSpPr>
        <p:spPr>
          <a:xfrm>
            <a:off x="5696712" y="100584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RDP Output : </a:t>
            </a:r>
          </a:p>
        </p:txBody>
      </p:sp>
      <p:pic>
        <p:nvPicPr>
          <p:cNvPr id="5" name="Picture 4" descr="ASDM-ID.&#10;&#10;AI-generated content may be incorrect.">
            <a:extLst>
              <a:ext uri="{FF2B5EF4-FFF2-40B4-BE49-F238E27FC236}">
                <a16:creationId xmlns:a16="http://schemas.microsoft.com/office/drawing/2014/main" id="{6304889A-6EC5-22F1-1FFC-B9F715CF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727" y="585215"/>
            <a:ext cx="5856842" cy="452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6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205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arunwork001@gmail.com</dc:creator>
  <cp:lastModifiedBy>arunwork001@gmail.com</cp:lastModifiedBy>
  <cp:revision>1</cp:revision>
  <dcterms:created xsi:type="dcterms:W3CDTF">2026-08-17T14:12:21Z</dcterms:created>
  <dcterms:modified xsi:type="dcterms:W3CDTF">2026-08-17T14:25:00Z</dcterms:modified>
</cp:coreProperties>
</file>